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70" r:id="rId5"/>
    <p:sldId id="259" r:id="rId6"/>
    <p:sldId id="260" r:id="rId7"/>
    <p:sldId id="261" r:id="rId8"/>
    <p:sldId id="269" r:id="rId9"/>
    <p:sldId id="268" r:id="rId10"/>
    <p:sldId id="262" r:id="rId11"/>
    <p:sldId id="263" r:id="rId12"/>
    <p:sldId id="264" r:id="rId13"/>
    <p:sldId id="265" r:id="rId14"/>
    <p:sldId id="266" r:id="rId15"/>
    <p:sldId id="267" r:id="rId16"/>
    <p:sldId id="271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3969" autoAdjust="0"/>
  </p:normalViewPr>
  <p:slideViewPr>
    <p:cSldViewPr snapToGrid="0" snapToObjects="1">
      <p:cViewPr>
        <p:scale>
          <a:sx n="76" d="100"/>
          <a:sy n="76" d="100"/>
        </p:scale>
        <p:origin x="-1206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095861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Include project name, team members, owner, version, and scope summary.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Add scenario description, functional requirements, NFRs, and assumptions.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Include design summary and rationale.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060925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C2D50892-0E4F-D845-FF05-1F9A802DB3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="" xmlns:a16="http://schemas.microsoft.com/office/drawing/2014/main" id="{A3CCD196-5FCB-1E39-9227-A90E386A16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="" xmlns:a16="http://schemas.microsoft.com/office/drawing/2014/main" id="{A61085AC-DB83-C034-62EA-A16838A670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Justify technology choices and alternatives. </a:t>
            </a:r>
          </a:p>
        </p:txBody>
      </p:sp>
    </p:spTree>
    <p:extLst>
      <p:ext uri="{BB962C8B-B14F-4D97-AF65-F5344CB8AC3E}">
        <p14:creationId xmlns:p14="http://schemas.microsoft.com/office/powerpoint/2010/main" val="21259666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Detail frontend, backend, database, and communication components.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Sequence diagrams for user journey and internal flows.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605712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A03DBE1A-EF77-C0B9-D810-601D9A738E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="" xmlns:a16="http://schemas.microsoft.com/office/drawing/2014/main" id="{14269B20-8553-2781-A83D-E39D1B020B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="" xmlns:a16="http://schemas.microsoft.com/office/drawing/2014/main" id="{958EF8CF-3635-8903-0E44-0711D4FC1B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Class diagram for one microservice.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1562262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BD7962CA-3F81-798E-D8D6-C93BBAB2B2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="" xmlns:a16="http://schemas.microsoft.com/office/drawing/2014/main" id="{B3065A5B-2BFC-6BE3-4440-EF90AA6111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="" xmlns:a16="http://schemas.microsoft.com/office/drawing/2014/main" id="{AC7A76D4-8F1C-4893-BA7F-99FFED4428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API contracts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972466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auto scaling, high availability, caching, and disaster recovery.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Include metrics, alarms, logs, and tracing.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Describe unit/integration tests, load tests, security tests, and acceptance criteria.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List cost drivers and optimization strategies.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Identify top risks, mitigation strategies, and residual risks.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Provide document links, version history, and related artifacts.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E7DFC04F-FAF2-EA53-D691-69480EAE36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="" xmlns:a16="http://schemas.microsoft.com/office/drawing/2014/main" id="{434B017E-EB73-C641-4083-4E77C0936E4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="" xmlns:a16="http://schemas.microsoft.com/office/drawing/2014/main" id="{A4FDD556-383C-C080-1DCD-12AC454D38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Provide document links, version history, and related artifacts.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20DAA565-C052-32F7-1D6D-C82426C43B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8285186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14-Nov-25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14-Nov-25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14-Nov-25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14-Nov-25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14-Nov-25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14-Nov-25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14-Nov-25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14-Nov-25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14-Nov-25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14-Nov-25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14-Nov-25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14-Nov-25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3568" y="0"/>
            <a:ext cx="7772400" cy="1470025"/>
          </a:xfrm>
        </p:spPr>
        <p:txBody>
          <a:bodyPr/>
          <a:lstStyle/>
          <a:p>
            <a:r>
              <a:rPr dirty="0"/>
              <a:t>Title &amp; Team Info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404" y="1826267"/>
            <a:ext cx="760956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r>
              <a:rPr lang="en-US" b="1" dirty="0"/>
              <a:t>Project Name:</a:t>
            </a:r>
            <a:r>
              <a:rPr lang="en-US" dirty="0"/>
              <a:t> </a:t>
            </a:r>
            <a:r>
              <a:rPr lang="en-US" dirty="0" err="1"/>
              <a:t>Fintech</a:t>
            </a:r>
            <a:r>
              <a:rPr lang="en-US" dirty="0"/>
              <a:t> Web App – Secure Payments Platform </a:t>
            </a:r>
            <a:r>
              <a:rPr lang="en-US" b="1" dirty="0"/>
              <a:t>Team Members:</a:t>
            </a:r>
            <a:r>
              <a:rPr lang="en-US" dirty="0"/>
              <a:t> </a:t>
            </a:r>
            <a:r>
              <a:rPr lang="en-US" dirty="0" err="1"/>
              <a:t>Gopi</a:t>
            </a:r>
            <a:r>
              <a:rPr lang="en-US" dirty="0"/>
              <a:t> + </a:t>
            </a:r>
            <a:r>
              <a:rPr lang="en-US" dirty="0" smtClean="0"/>
              <a:t>Team</a:t>
            </a:r>
            <a:br>
              <a:rPr lang="en-US" dirty="0" smtClean="0"/>
            </a:br>
            <a:endParaRPr lang="en-US" dirty="0" smtClean="0"/>
          </a:p>
          <a:p>
            <a:r>
              <a:rPr lang="en-US" dirty="0" smtClean="0"/>
              <a:t> </a:t>
            </a:r>
            <a:r>
              <a:rPr lang="en-US" b="1" dirty="0"/>
              <a:t>Owner &amp; Version:</a:t>
            </a:r>
            <a:r>
              <a:rPr lang="en-US" dirty="0"/>
              <a:t> </a:t>
            </a:r>
            <a:r>
              <a:rPr lang="en-US" dirty="0" smtClean="0"/>
              <a:t>v1.0</a:t>
            </a:r>
          </a:p>
          <a:p>
            <a:r>
              <a:rPr lang="en-US" dirty="0" smtClean="0"/>
              <a:t> </a:t>
            </a:r>
            <a:r>
              <a:rPr lang="en-US" b="1" dirty="0"/>
              <a:t>Scope Summary:</a:t>
            </a:r>
            <a:r>
              <a:rPr lang="en-US" dirty="0"/>
              <a:t> </a:t>
            </a:r>
            <a:endParaRPr lang="en-US" dirty="0" smtClean="0"/>
          </a:p>
          <a:p>
            <a:r>
              <a:rPr lang="en-US" dirty="0" smtClean="0"/>
              <a:t>A </a:t>
            </a:r>
            <a:r>
              <a:rPr lang="en-US" dirty="0"/>
              <a:t>secure, resilient, observable </a:t>
            </a:r>
            <a:r>
              <a:rPr lang="en-US" dirty="0" err="1"/>
              <a:t>microservices</a:t>
            </a:r>
            <a:r>
              <a:rPr lang="en-US" dirty="0"/>
              <a:t> architecture on AWS. </a:t>
            </a:r>
            <a:r>
              <a:rPr lang="en-US" dirty="0" err="1" smtClean="0"/>
              <a:t>Cognito</a:t>
            </a:r>
            <a:r>
              <a:rPr lang="en-US" dirty="0" smtClean="0"/>
              <a:t> </a:t>
            </a:r>
            <a:r>
              <a:rPr lang="en-US" dirty="0"/>
              <a:t>JWT authentication</a:t>
            </a:r>
            <a:r>
              <a:rPr lang="en-US" dirty="0" smtClean="0"/>
              <a:t>,</a:t>
            </a:r>
          </a:p>
          <a:p>
            <a:r>
              <a:rPr lang="en-US" dirty="0" smtClean="0"/>
              <a:t> </a:t>
            </a:r>
            <a:r>
              <a:rPr lang="en-US" dirty="0"/>
              <a:t>Spring Boot </a:t>
            </a:r>
            <a:r>
              <a:rPr lang="en-US" dirty="0" err="1"/>
              <a:t>microservices</a:t>
            </a:r>
            <a:r>
              <a:rPr lang="en-US" dirty="0"/>
              <a:t> (User, Payment, Notification), RDS </a:t>
            </a:r>
            <a:r>
              <a:rPr lang="en-US" dirty="0" err="1"/>
              <a:t>PostgreSQL</a:t>
            </a:r>
            <a:r>
              <a:rPr lang="en-US" dirty="0"/>
              <a:t>, SQS messaging, </a:t>
            </a:r>
            <a:endParaRPr lang="en-US" dirty="0" smtClean="0"/>
          </a:p>
          <a:p>
            <a:r>
              <a:rPr lang="en-US" dirty="0" err="1" smtClean="0"/>
              <a:t>ALB+Ingress</a:t>
            </a:r>
            <a:r>
              <a:rPr lang="en-US" dirty="0" smtClean="0"/>
              <a:t> </a:t>
            </a:r>
            <a:r>
              <a:rPr lang="en-US" dirty="0"/>
              <a:t>networking, resilience patterns, and </a:t>
            </a:r>
            <a:r>
              <a:rPr lang="en-US" dirty="0" err="1"/>
              <a:t>observability</a:t>
            </a:r>
            <a:r>
              <a:rPr lang="en-US" dirty="0"/>
              <a:t> with </a:t>
            </a:r>
            <a:r>
              <a:rPr lang="en-US" dirty="0" err="1"/>
              <a:t>CloudWatch</a:t>
            </a:r>
            <a:r>
              <a:rPr lang="en-US" dirty="0"/>
              <a:t>, Prometheus, and X-Ray.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8966" y="150312"/>
            <a:ext cx="6579296" cy="1020088"/>
          </a:xfrm>
        </p:spPr>
        <p:txBody>
          <a:bodyPr/>
          <a:lstStyle/>
          <a:p>
            <a:r>
              <a:rPr dirty="0"/>
              <a:t>Scenario &amp; Requirements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4066235"/>
              </p:ext>
            </p:extLst>
          </p:nvPr>
        </p:nvGraphicFramePr>
        <p:xfrm>
          <a:off x="642973" y="2380425"/>
          <a:ext cx="7933209" cy="4525962"/>
        </p:xfrm>
        <a:graphic>
          <a:graphicData uri="http://schemas.openxmlformats.org/drawingml/2006/table">
            <a:tbl>
              <a:tblPr/>
              <a:tblGrid>
                <a:gridCol w="2644403"/>
                <a:gridCol w="2644403"/>
                <a:gridCol w="2644403"/>
              </a:tblGrid>
              <a:tr h="312135">
                <a:tc>
                  <a:txBody>
                    <a:bodyPr/>
                    <a:lstStyle/>
                    <a:p>
                      <a:r>
                        <a:rPr lang="en-US" sz="1500" dirty="0"/>
                        <a:t>Requirement</a:t>
                      </a:r>
                    </a:p>
                  </a:txBody>
                  <a:tcPr marL="78034" marR="78034" marT="39017" marB="390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Category</a:t>
                      </a:r>
                    </a:p>
                  </a:txBody>
                  <a:tcPr marL="78034" marR="78034" marT="39017" marB="390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Notes</a:t>
                      </a:r>
                    </a:p>
                  </a:txBody>
                  <a:tcPr marL="78034" marR="78034" marT="39017" marB="390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46237">
                <a:tc>
                  <a:txBody>
                    <a:bodyPr/>
                    <a:lstStyle/>
                    <a:p>
                      <a:r>
                        <a:rPr lang="en-US" sz="1500"/>
                        <a:t>User registration/login</a:t>
                      </a:r>
                    </a:p>
                  </a:txBody>
                  <a:tcPr marL="78034" marR="78034" marT="39017" marB="390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Functional</a:t>
                      </a:r>
                    </a:p>
                  </a:txBody>
                  <a:tcPr marL="78034" marR="78034" marT="39017" marB="390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Cognito JWT auth, RBAC enforced</a:t>
                      </a:r>
                    </a:p>
                  </a:txBody>
                  <a:tcPr marL="78034" marR="78034" marT="39017" marB="390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46237">
                <a:tc>
                  <a:txBody>
                    <a:bodyPr/>
                    <a:lstStyle/>
                    <a:p>
                      <a:r>
                        <a:rPr lang="en-US" sz="1500" dirty="0"/>
                        <a:t>Payment initiation</a:t>
                      </a:r>
                    </a:p>
                  </a:txBody>
                  <a:tcPr marL="78034" marR="78034" marT="39017" marB="390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Functional</a:t>
                      </a:r>
                    </a:p>
                  </a:txBody>
                  <a:tcPr marL="78034" marR="78034" marT="39017" marB="390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Payment </a:t>
                      </a:r>
                      <a:r>
                        <a:rPr lang="en-US" sz="1500" dirty="0" err="1"/>
                        <a:t>microservice</a:t>
                      </a:r>
                      <a:r>
                        <a:rPr lang="en-US" sz="1500" dirty="0"/>
                        <a:t>, triggers SQS event</a:t>
                      </a:r>
                    </a:p>
                  </a:txBody>
                  <a:tcPr marL="78034" marR="78034" marT="39017" marB="390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46237">
                <a:tc>
                  <a:txBody>
                    <a:bodyPr/>
                    <a:lstStyle/>
                    <a:p>
                      <a:r>
                        <a:rPr lang="en-US" sz="1500" dirty="0"/>
                        <a:t>Notifications</a:t>
                      </a:r>
                    </a:p>
                  </a:txBody>
                  <a:tcPr marL="78034" marR="78034" marT="39017" marB="390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Functional</a:t>
                      </a:r>
                    </a:p>
                  </a:txBody>
                  <a:tcPr marL="78034" marR="78034" marT="39017" marB="390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Notification </a:t>
                      </a:r>
                      <a:r>
                        <a:rPr lang="en-US" sz="1500" dirty="0" err="1"/>
                        <a:t>microservice</a:t>
                      </a:r>
                      <a:r>
                        <a:rPr lang="en-US" sz="1500" dirty="0"/>
                        <a:t> consumes SQS</a:t>
                      </a:r>
                    </a:p>
                  </a:txBody>
                  <a:tcPr marL="78034" marR="78034" marT="39017" marB="390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46237">
                <a:tc>
                  <a:txBody>
                    <a:bodyPr/>
                    <a:lstStyle/>
                    <a:p>
                      <a:r>
                        <a:rPr lang="en-US" sz="1500" dirty="0"/>
                        <a:t>Reporting</a:t>
                      </a:r>
                    </a:p>
                  </a:txBody>
                  <a:tcPr marL="78034" marR="78034" marT="39017" marB="390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Functional</a:t>
                      </a:r>
                    </a:p>
                  </a:txBody>
                  <a:tcPr marL="78034" marR="78034" marT="39017" marB="390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Daily aggregation of transactions</a:t>
                      </a:r>
                    </a:p>
                  </a:txBody>
                  <a:tcPr marL="78034" marR="78034" marT="39017" marB="390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46237">
                <a:tc>
                  <a:txBody>
                    <a:bodyPr/>
                    <a:lstStyle/>
                    <a:p>
                      <a:r>
                        <a:rPr lang="en-US" sz="1500"/>
                        <a:t>Availability ≥ 99.9%</a:t>
                      </a:r>
                    </a:p>
                  </a:txBody>
                  <a:tcPr marL="78034" marR="78034" marT="39017" marB="390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NFR</a:t>
                      </a:r>
                    </a:p>
                  </a:txBody>
                  <a:tcPr marL="78034" marR="78034" marT="39017" marB="390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it-IT" sz="1500"/>
                        <a:t>Multi-AZ RDS, Auto Scaling EKS</a:t>
                      </a:r>
                    </a:p>
                  </a:txBody>
                  <a:tcPr marL="78034" marR="78034" marT="39017" marB="390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46237">
                <a:tc>
                  <a:txBody>
                    <a:bodyPr/>
                    <a:lstStyle/>
                    <a:p>
                      <a:r>
                        <a:rPr lang="en-US" sz="1500"/>
                        <a:t>Latency ≤ 250ms</a:t>
                      </a:r>
                    </a:p>
                  </a:txBody>
                  <a:tcPr marL="78034" marR="78034" marT="39017" marB="390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NFR</a:t>
                      </a:r>
                    </a:p>
                  </a:txBody>
                  <a:tcPr marL="78034" marR="78034" marT="39017" marB="390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ALB routing, CloudFront caching</a:t>
                      </a:r>
                    </a:p>
                  </a:txBody>
                  <a:tcPr marL="78034" marR="78034" marT="39017" marB="390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12135">
                <a:tc>
                  <a:txBody>
                    <a:bodyPr/>
                    <a:lstStyle/>
                    <a:p>
                      <a:r>
                        <a:rPr lang="en-US" sz="1500"/>
                        <a:t>RPO ≤ 15 min</a:t>
                      </a:r>
                    </a:p>
                  </a:txBody>
                  <a:tcPr marL="78034" marR="78034" marT="39017" marB="390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NFR</a:t>
                      </a:r>
                    </a:p>
                  </a:txBody>
                  <a:tcPr marL="78034" marR="78034" marT="39017" marB="390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Automated RDS backups</a:t>
                      </a:r>
                    </a:p>
                  </a:txBody>
                  <a:tcPr marL="78034" marR="78034" marT="39017" marB="390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12135">
                <a:tc>
                  <a:txBody>
                    <a:bodyPr/>
                    <a:lstStyle/>
                    <a:p>
                      <a:r>
                        <a:rPr lang="en-US" sz="1500"/>
                        <a:t>RTO ≤ 1 hr</a:t>
                      </a:r>
                    </a:p>
                  </a:txBody>
                  <a:tcPr marL="78034" marR="78034" marT="39017" marB="390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NFR</a:t>
                      </a:r>
                    </a:p>
                  </a:txBody>
                  <a:tcPr marL="78034" marR="78034" marT="39017" marB="390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Multi-AZ failover</a:t>
                      </a:r>
                    </a:p>
                  </a:txBody>
                  <a:tcPr marL="78034" marR="78034" marT="39017" marB="390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12135">
                <a:tc>
                  <a:txBody>
                    <a:bodyPr/>
                    <a:lstStyle/>
                    <a:p>
                      <a:r>
                        <a:rPr lang="en-US" sz="1500"/>
                        <a:t>Encryption</a:t>
                      </a:r>
                    </a:p>
                  </a:txBody>
                  <a:tcPr marL="78034" marR="78034" marT="39017" marB="390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Security</a:t>
                      </a:r>
                    </a:p>
                  </a:txBody>
                  <a:tcPr marL="78034" marR="78034" marT="39017" marB="390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TLS in transit, KMS at rest</a:t>
                      </a:r>
                    </a:p>
                  </a:txBody>
                  <a:tcPr marL="78034" marR="78034" marT="39017" marB="390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250520" y="1022879"/>
            <a:ext cx="8893480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Scenario: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 Design a secure, highly available AWS architecture for a </a:t>
            </a:r>
            <a:r>
              <a:rPr kumimoji="0" 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fintech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 web app: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React SPA frontend; Spring Boot </a:t>
            </a:r>
            <a:r>
              <a:rPr kumimoji="0" 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microservices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 (Payment, User, Notification, optional Reporting);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 enforce RBAC and end-to-end TLS.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Requirements Table:</a:t>
            </a: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226468"/>
            <a:ext cx="7772400" cy="1470025"/>
          </a:xfrm>
        </p:spPr>
        <p:txBody>
          <a:bodyPr/>
          <a:lstStyle/>
          <a:p>
            <a:r>
              <a:rPr dirty="0"/>
              <a:t>High-Level Architecture </a:t>
            </a:r>
            <a:r>
              <a:rPr lang="en-IN" dirty="0"/>
              <a:t>Overview</a:t>
            </a:r>
            <a:endParaRPr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7569900"/>
              </p:ext>
            </p:extLst>
          </p:nvPr>
        </p:nvGraphicFramePr>
        <p:xfrm>
          <a:off x="1146132" y="2973987"/>
          <a:ext cx="6818122" cy="2194560"/>
        </p:xfrm>
        <a:graphic>
          <a:graphicData uri="http://schemas.openxmlformats.org/drawingml/2006/table">
            <a:tbl>
              <a:tblPr/>
              <a:tblGrid>
                <a:gridCol w="1331722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Component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Responsibility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HA/SLO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ALB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Routing, TLS termination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99.99%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EKS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Microservice hosting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Auto Scaling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RDS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Transaction storage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Multi-AZ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SQS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Event queue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Durable, HA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CloudFront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CDN caching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Global edge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457199" y="1617066"/>
            <a:ext cx="7173823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Architecture Diagram: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 (Insert your VPC diagram here: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 Public/Private subnets, ALB, EKS, RDS, </a:t>
            </a:r>
            <a:r>
              <a:rPr kumimoji="0" 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Cognito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, SQS, </a:t>
            </a:r>
            <a:r>
              <a:rPr kumimoji="0" 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CloudFront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Design Summary Table:</a:t>
            </a: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44CBB448-BA81-AEA2-8186-85B10542CB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B48334F-E861-1C55-A3A6-F629E6CCA7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5592" y="126260"/>
            <a:ext cx="7772400" cy="1470025"/>
          </a:xfrm>
        </p:spPr>
        <p:txBody>
          <a:bodyPr/>
          <a:lstStyle/>
          <a:p>
            <a:r>
              <a:rPr lang="en-US" b="1" dirty="0"/>
              <a:t>Tech Stack &amp; Trade-offs</a:t>
            </a:r>
            <a:endParaRPr lang="en-IN" b="1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2537301"/>
          <a:ext cx="8229600" cy="265176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r>
                        <a:rPr lang="en-US"/>
                        <a:t>Choice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Alternative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Rationale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EKS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ECS, Lambda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JVM workloads, warm containers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RDS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DynamoDB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ACID transactions needed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ALB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API Gateway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Path-based routing, lower latency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Cognito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Custom auth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Standards-based, offloads complexity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102002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5592" y="0"/>
            <a:ext cx="7772400" cy="1470025"/>
          </a:xfrm>
        </p:spPr>
        <p:txBody>
          <a:bodyPr/>
          <a:lstStyle/>
          <a:p>
            <a:r>
              <a:rPr dirty="0"/>
              <a:t>Component Deployment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2628741"/>
          <a:ext cx="8229600" cy="2468880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r>
                        <a:rPr lang="en-US"/>
                        <a:t>Component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Host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Scaling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Notes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React SPA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S3 + CloudFront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CDN scaling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Cached globally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User Service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EKS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HPA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JWT validation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Payment Service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EKS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HPA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Publishes SQS events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Notification Service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EKS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HPA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Consumes SQS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RDS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Private subnet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Multi-AZ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Automated backups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73482" y="63630"/>
            <a:ext cx="7772400" cy="1470025"/>
          </a:xfrm>
        </p:spPr>
        <p:txBody>
          <a:bodyPr/>
          <a:lstStyle/>
          <a:p>
            <a:r>
              <a:rPr lang="en-IN" dirty="0"/>
              <a:t>Security &amp; Compliance</a:t>
            </a:r>
            <a:endParaRPr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9768093"/>
              </p:ext>
            </p:extLst>
          </p:nvPr>
        </p:nvGraphicFramePr>
        <p:xfrm>
          <a:off x="569935" y="3803110"/>
          <a:ext cx="8229600" cy="246888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Role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Policies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Notes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Payment Pod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sqs:SendMessage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Publishes payment events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Notification Pod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sqs:ReceiveMessage, sqs:DeleteMessage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Consumes events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User Service Pod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rds:Connect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Queries RDS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Reporting Pod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rds:ReadReplica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Aggregates transactions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App Role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cognito-idp:*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JWT validation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457200" y="262890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Security Approach:</a:t>
            </a: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Cognito JWT for authentication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RBAC enforced via Spring Security (</a:t>
            </a:r>
            <a:r>
              <a:rPr kumimoji="0" 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itchFamily="34" charset="-128"/>
                <a:cs typeface="Arial" pitchFamily="34" charset="0"/>
              </a:rPr>
              <a:t>@PreAuthorize</a:t>
            </a:r>
            <a:r>
              <a:rPr kumimoji="0" lang="en-US" sz="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)</a:t>
            </a: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IAM roles for least privilege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TLS everywhere (ALB termination + pod-to-pod mTLS optional)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Audit logs retained 90 days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IAM Roles Table:</a:t>
            </a: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48638" y="126261"/>
            <a:ext cx="7609561" cy="763088"/>
          </a:xfrm>
        </p:spPr>
        <p:txBody>
          <a:bodyPr/>
          <a:lstStyle/>
          <a:p>
            <a:r>
              <a:rPr lang="en-US" dirty="0" smtClean="0"/>
              <a:t>Class  Diagram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Add content here...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4901973"/>
              </p:ext>
            </p:extLst>
          </p:nvPr>
        </p:nvGraphicFramePr>
        <p:xfrm>
          <a:off x="676405" y="889349"/>
          <a:ext cx="7412278" cy="57857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06139"/>
                <a:gridCol w="3706139"/>
              </a:tblGrid>
              <a:tr h="5785771">
                <a:tc>
                  <a:txBody>
                    <a:bodyPr/>
                    <a:lstStyle/>
                    <a:p>
                      <a:r>
                        <a:rPr lang="en-US" sz="1200" b="1" dirty="0" smtClean="0"/>
                        <a:t>Sequence Diagram (User ↔ Payment Flow)</a:t>
                      </a:r>
                    </a:p>
                    <a:p>
                      <a:r>
                        <a:rPr lang="en-US" sz="1200" b="1" dirty="0" smtClean="0"/>
                        <a:t>Flow:</a:t>
                      </a:r>
                      <a:endParaRPr lang="en-US" sz="1200" dirty="0" smtClean="0"/>
                    </a:p>
                    <a:p>
                      <a:r>
                        <a:rPr lang="en-US" sz="1200" b="1" dirty="0" smtClean="0"/>
                        <a:t>React SPA (</a:t>
                      </a:r>
                      <a:r>
                        <a:rPr lang="en-US" sz="1200" b="1" dirty="0" err="1" smtClean="0"/>
                        <a:t>CloudFront</a:t>
                      </a:r>
                      <a:r>
                        <a:rPr lang="en-US" sz="1200" b="1" dirty="0" smtClean="0"/>
                        <a:t>/S3)</a:t>
                      </a:r>
                      <a:r>
                        <a:rPr lang="en-US" sz="1200" dirty="0" smtClean="0"/>
                        <a:t> → User clicks </a:t>
                      </a:r>
                      <a:r>
                        <a:rPr lang="en-US" sz="1200" i="1" dirty="0" smtClean="0"/>
                        <a:t>Make Payment</a:t>
                      </a:r>
                      <a:endParaRPr lang="en-US" sz="1200" dirty="0" smtClean="0"/>
                    </a:p>
                    <a:p>
                      <a:r>
                        <a:rPr lang="en-US" sz="1200" b="1" dirty="0" err="1" smtClean="0"/>
                        <a:t>Cognito</a:t>
                      </a:r>
                      <a:r>
                        <a:rPr lang="en-US" sz="1200" dirty="0" smtClean="0"/>
                        <a:t> → Issues JWT (Access Token)</a:t>
                      </a:r>
                    </a:p>
                    <a:p>
                      <a:r>
                        <a:rPr lang="en-US" sz="1200" b="1" dirty="0" smtClean="0"/>
                        <a:t>ALB + Ingress</a:t>
                      </a:r>
                      <a:r>
                        <a:rPr lang="en-US" sz="1200" dirty="0" smtClean="0"/>
                        <a:t> → Routes request to User Service</a:t>
                      </a:r>
                    </a:p>
                    <a:p>
                      <a:r>
                        <a:rPr lang="en-US" sz="1200" b="1" dirty="0" smtClean="0"/>
                        <a:t>User Service</a:t>
                      </a:r>
                      <a:r>
                        <a:rPr lang="en-US" sz="1200" dirty="0" smtClean="0"/>
                        <a:t> → Validates JWT, forwards request with token</a:t>
                      </a:r>
                    </a:p>
                    <a:p>
                      <a:r>
                        <a:rPr lang="en-US" sz="1200" b="1" dirty="0" smtClean="0"/>
                        <a:t>Payment Service</a:t>
                      </a:r>
                      <a:r>
                        <a:rPr lang="en-US" sz="1200" dirty="0" smtClean="0"/>
                        <a:t> → Processes payment, persists to RDS</a:t>
                      </a:r>
                    </a:p>
                    <a:p>
                      <a:r>
                        <a:rPr lang="en-US" sz="1200" b="1" dirty="0" smtClean="0"/>
                        <a:t>Payment Service</a:t>
                      </a:r>
                      <a:r>
                        <a:rPr lang="en-US" sz="1200" dirty="0" smtClean="0"/>
                        <a:t> → Publishes event to SQS</a:t>
                      </a:r>
                    </a:p>
                    <a:p>
                      <a:r>
                        <a:rPr lang="en-US" sz="1200" b="1" dirty="0" smtClean="0"/>
                        <a:t>Notification Service</a:t>
                      </a:r>
                      <a:r>
                        <a:rPr lang="en-US" sz="1200" dirty="0" smtClean="0"/>
                        <a:t> → Consumes SQS event, sends notification</a:t>
                      </a:r>
                    </a:p>
                    <a:p>
                      <a:r>
                        <a:rPr lang="en-US" sz="1200" b="1" dirty="0" smtClean="0"/>
                        <a:t>Response</a:t>
                      </a:r>
                      <a:r>
                        <a:rPr lang="en-US" sz="1200" dirty="0" smtClean="0"/>
                        <a:t> → JSON confirmation returned to SPA</a:t>
                      </a:r>
                    </a:p>
                    <a:p>
                      <a:r>
                        <a:rPr lang="en-US" sz="1200" b="1" dirty="0" smtClean="0"/>
                        <a:t>🏗️ Class Diagram (User &amp; Payment </a:t>
                      </a:r>
                      <a:r>
                        <a:rPr lang="en-US" sz="1200" b="1" dirty="0" err="1" smtClean="0"/>
                        <a:t>Microservices</a:t>
                      </a:r>
                      <a:r>
                        <a:rPr lang="en-US" sz="1200" b="1" dirty="0" smtClean="0"/>
                        <a:t>)</a:t>
                      </a:r>
                    </a:p>
                    <a:p>
                      <a:r>
                        <a:rPr lang="en-US" sz="1200" b="1" dirty="0" smtClean="0"/>
                        <a:t>User </a:t>
                      </a:r>
                      <a:r>
                        <a:rPr lang="en-US" sz="1200" b="1" dirty="0" err="1" smtClean="0"/>
                        <a:t>Microservice</a:t>
                      </a:r>
                      <a:endParaRPr lang="en-US" sz="1200" dirty="0" smtClean="0"/>
                    </a:p>
                    <a:p>
                      <a:r>
                        <a:rPr lang="en-US" sz="1200" b="1" dirty="0" err="1" smtClean="0"/>
                        <a:t>UserController</a:t>
                      </a:r>
                      <a:endParaRPr lang="en-US" sz="1200" dirty="0" smtClean="0"/>
                    </a:p>
                    <a:p>
                      <a:pPr lvl="1"/>
                      <a:r>
                        <a:rPr lang="en-US" sz="1200" dirty="0" err="1" smtClean="0"/>
                        <a:t>registerUser</a:t>
                      </a:r>
                      <a:r>
                        <a:rPr lang="en-US" sz="1200" dirty="0" smtClean="0"/>
                        <a:t>(</a:t>
                      </a:r>
                      <a:r>
                        <a:rPr lang="en-US" sz="1200" dirty="0" err="1" smtClean="0"/>
                        <a:t>UserDto</a:t>
                      </a:r>
                      <a:r>
                        <a:rPr lang="en-US" sz="1200" dirty="0" smtClean="0"/>
                        <a:t>)</a:t>
                      </a:r>
                    </a:p>
                    <a:p>
                      <a:pPr lvl="1"/>
                      <a:r>
                        <a:rPr lang="en-US" sz="1200" dirty="0" err="1" smtClean="0"/>
                        <a:t>getUser</a:t>
                      </a:r>
                      <a:r>
                        <a:rPr lang="en-US" sz="1200" dirty="0" smtClean="0"/>
                        <a:t>(Long id)</a:t>
                      </a:r>
                    </a:p>
                    <a:p>
                      <a:r>
                        <a:rPr lang="en-US" sz="1200" b="1" dirty="0" err="1" smtClean="0"/>
                        <a:t>UserService</a:t>
                      </a:r>
                      <a:endParaRPr lang="en-US" sz="1200" dirty="0" smtClean="0"/>
                    </a:p>
                    <a:p>
                      <a:pPr lvl="1"/>
                      <a:r>
                        <a:rPr lang="en-US" sz="1200" dirty="0" err="1" smtClean="0"/>
                        <a:t>saveUser</a:t>
                      </a:r>
                      <a:r>
                        <a:rPr lang="en-US" sz="1200" dirty="0" smtClean="0"/>
                        <a:t>(</a:t>
                      </a:r>
                      <a:r>
                        <a:rPr lang="en-US" sz="1200" dirty="0" err="1" smtClean="0"/>
                        <a:t>UserDto</a:t>
                      </a:r>
                      <a:r>
                        <a:rPr lang="en-US" sz="1200" dirty="0" smtClean="0"/>
                        <a:t>)</a:t>
                      </a:r>
                    </a:p>
                    <a:p>
                      <a:pPr lvl="1"/>
                      <a:r>
                        <a:rPr lang="en-US" sz="1200" dirty="0" err="1" smtClean="0"/>
                        <a:t>getUserById</a:t>
                      </a:r>
                      <a:r>
                        <a:rPr lang="en-US" sz="1200" dirty="0" smtClean="0"/>
                        <a:t>(Long id)</a:t>
                      </a:r>
                    </a:p>
                    <a:p>
                      <a:r>
                        <a:rPr lang="en-US" sz="1200" b="1" dirty="0" err="1" smtClean="0"/>
                        <a:t>UserRepository</a:t>
                      </a:r>
                      <a:endParaRPr lang="en-US" sz="1200" dirty="0" smtClean="0"/>
                    </a:p>
                    <a:p>
                      <a:pPr lvl="1"/>
                      <a:r>
                        <a:rPr lang="en-US" sz="1200" dirty="0" smtClean="0"/>
                        <a:t>save(User)</a:t>
                      </a:r>
                    </a:p>
                    <a:p>
                      <a:pPr lvl="1"/>
                      <a:r>
                        <a:rPr lang="en-US" sz="1200" dirty="0" err="1" smtClean="0"/>
                        <a:t>findById</a:t>
                      </a:r>
                      <a:r>
                        <a:rPr lang="en-US" sz="1200" dirty="0" smtClean="0"/>
                        <a:t>(Long id)</a:t>
                      </a:r>
                    </a:p>
                    <a:p>
                      <a:r>
                        <a:rPr lang="en-US" sz="1200" b="1" dirty="0" smtClean="0"/>
                        <a:t>User Entity</a:t>
                      </a:r>
                      <a:endParaRPr lang="en-US" sz="1200" dirty="0" smtClean="0"/>
                    </a:p>
                    <a:p>
                      <a:pPr lvl="1"/>
                      <a:r>
                        <a:rPr lang="en-US" sz="1200" dirty="0" smtClean="0"/>
                        <a:t>id: Long</a:t>
                      </a:r>
                    </a:p>
                    <a:p>
                      <a:pPr lvl="1"/>
                      <a:r>
                        <a:rPr lang="en-US" sz="1200" dirty="0" smtClean="0"/>
                        <a:t>name: String</a:t>
                      </a:r>
                    </a:p>
                    <a:p>
                      <a:pPr lvl="1"/>
                      <a:r>
                        <a:rPr lang="en-US" sz="1200" dirty="0" smtClean="0"/>
                        <a:t>email: String</a:t>
                      </a:r>
                    </a:p>
                    <a:p>
                      <a:pPr lvl="1"/>
                      <a:r>
                        <a:rPr lang="en-US" sz="1200" dirty="0" err="1" smtClean="0"/>
                        <a:t>paymentCode</a:t>
                      </a:r>
                      <a:r>
                        <a:rPr lang="en-US" sz="1200" dirty="0" smtClean="0"/>
                        <a:t>: String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1" dirty="0" smtClean="0"/>
                        <a:t>Payment </a:t>
                      </a:r>
                      <a:r>
                        <a:rPr lang="en-US" sz="1200" b="1" dirty="0" err="1" smtClean="0"/>
                        <a:t>Microservice</a:t>
                      </a:r>
                      <a:endParaRPr lang="en-US" sz="1200" dirty="0" smtClean="0"/>
                    </a:p>
                    <a:p>
                      <a:r>
                        <a:rPr lang="en-US" sz="1200" b="1" dirty="0" err="1" smtClean="0"/>
                        <a:t>PaymentController</a:t>
                      </a:r>
                      <a:endParaRPr lang="en-US" sz="1200" dirty="0" smtClean="0"/>
                    </a:p>
                    <a:p>
                      <a:pPr lvl="1"/>
                      <a:r>
                        <a:rPr lang="en-US" sz="1200" dirty="0" err="1" smtClean="0"/>
                        <a:t>initiatePayment</a:t>
                      </a:r>
                      <a:r>
                        <a:rPr lang="en-US" sz="1200" dirty="0" smtClean="0"/>
                        <a:t>(</a:t>
                      </a:r>
                      <a:r>
                        <a:rPr lang="en-US" sz="1200" dirty="0" err="1" smtClean="0"/>
                        <a:t>PaymentDto</a:t>
                      </a:r>
                      <a:r>
                        <a:rPr lang="en-US" sz="1200" dirty="0" smtClean="0"/>
                        <a:t>)</a:t>
                      </a:r>
                    </a:p>
                    <a:p>
                      <a:pPr lvl="1"/>
                      <a:r>
                        <a:rPr lang="en-US" sz="1200" dirty="0" err="1" smtClean="0"/>
                        <a:t>getPayment</a:t>
                      </a:r>
                      <a:r>
                        <a:rPr lang="en-US" sz="1200" dirty="0" smtClean="0"/>
                        <a:t>(String code)</a:t>
                      </a:r>
                    </a:p>
                    <a:p>
                      <a:r>
                        <a:rPr lang="en-US" sz="1200" b="1" dirty="0" err="1" smtClean="0"/>
                        <a:t>PaymentService</a:t>
                      </a:r>
                      <a:endParaRPr lang="en-US" sz="1200" dirty="0" smtClean="0"/>
                    </a:p>
                    <a:p>
                      <a:pPr lvl="1"/>
                      <a:r>
                        <a:rPr lang="en-US" sz="1200" dirty="0" err="1" smtClean="0"/>
                        <a:t>savePayment</a:t>
                      </a:r>
                      <a:r>
                        <a:rPr lang="en-US" sz="1200" dirty="0" smtClean="0"/>
                        <a:t>(</a:t>
                      </a:r>
                      <a:r>
                        <a:rPr lang="en-US" sz="1200" dirty="0" err="1" smtClean="0"/>
                        <a:t>PaymentDto</a:t>
                      </a:r>
                      <a:r>
                        <a:rPr lang="en-US" sz="1200" dirty="0" smtClean="0"/>
                        <a:t>)</a:t>
                      </a:r>
                    </a:p>
                    <a:p>
                      <a:pPr lvl="1"/>
                      <a:r>
                        <a:rPr lang="en-US" sz="1200" dirty="0" err="1" smtClean="0"/>
                        <a:t>getPaymentByCode</a:t>
                      </a:r>
                      <a:r>
                        <a:rPr lang="en-US" sz="1200" dirty="0" smtClean="0"/>
                        <a:t>(String code)</a:t>
                      </a:r>
                    </a:p>
                    <a:p>
                      <a:r>
                        <a:rPr lang="en-US" sz="1200" b="1" dirty="0" err="1" smtClean="0"/>
                        <a:t>PaymentRepository</a:t>
                      </a:r>
                      <a:endParaRPr lang="en-US" sz="1200" dirty="0" smtClean="0"/>
                    </a:p>
                    <a:p>
                      <a:pPr lvl="1"/>
                      <a:r>
                        <a:rPr lang="en-US" sz="1200" dirty="0" smtClean="0"/>
                        <a:t>save(Payment)</a:t>
                      </a:r>
                    </a:p>
                    <a:p>
                      <a:pPr lvl="1"/>
                      <a:r>
                        <a:rPr lang="en-US" sz="1200" dirty="0" err="1" smtClean="0"/>
                        <a:t>findByPaymentCode</a:t>
                      </a:r>
                      <a:r>
                        <a:rPr lang="en-US" sz="1200" dirty="0" smtClean="0"/>
                        <a:t>(String code)</a:t>
                      </a:r>
                    </a:p>
                    <a:p>
                      <a:r>
                        <a:rPr lang="en-US" sz="1200" b="1" dirty="0" smtClean="0"/>
                        <a:t>Payment Entity</a:t>
                      </a:r>
                      <a:endParaRPr lang="en-US" sz="1200" dirty="0" smtClean="0"/>
                    </a:p>
                    <a:p>
                      <a:pPr lvl="1"/>
                      <a:r>
                        <a:rPr lang="en-US" sz="1200" dirty="0" err="1" smtClean="0"/>
                        <a:t>paymentCode</a:t>
                      </a:r>
                      <a:r>
                        <a:rPr lang="en-US" sz="1200" dirty="0" smtClean="0"/>
                        <a:t>: String {PK}</a:t>
                      </a:r>
                    </a:p>
                    <a:p>
                      <a:pPr lvl="1"/>
                      <a:r>
                        <a:rPr lang="en-US" sz="1200" dirty="0" smtClean="0"/>
                        <a:t>amount: Decimal</a:t>
                      </a:r>
                    </a:p>
                    <a:p>
                      <a:pPr lvl="1"/>
                      <a:r>
                        <a:rPr lang="en-US" sz="1200" dirty="0" smtClean="0"/>
                        <a:t>sender: String</a:t>
                      </a:r>
                    </a:p>
                    <a:p>
                      <a:pPr lvl="1"/>
                      <a:r>
                        <a:rPr lang="en-US" sz="1200" dirty="0" smtClean="0"/>
                        <a:t>receiver: String</a:t>
                      </a:r>
                    </a:p>
                    <a:p>
                      <a:pPr lvl="1"/>
                      <a:r>
                        <a:rPr lang="en-US" sz="1200" dirty="0" smtClean="0"/>
                        <a:t>timestamp: </a:t>
                      </a:r>
                      <a:r>
                        <a:rPr lang="en-US" sz="1200" dirty="0" err="1" smtClean="0"/>
                        <a:t>DateTime</a:t>
                      </a:r>
                      <a:endParaRPr lang="en-US" sz="1200" dirty="0" smtClean="0"/>
                    </a:p>
                    <a:p>
                      <a:endParaRPr lang="en-US" sz="1200" dirty="0" smtClean="0"/>
                    </a:p>
                    <a:p>
                      <a:endParaRPr lang="en-US" sz="1200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0F3FE679-A358-1727-9730-6D7A2849AF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D0B8529F-5CC5-3878-195A-C699BA5CFB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3482" y="276573"/>
            <a:ext cx="7772400" cy="1470025"/>
          </a:xfrm>
        </p:spPr>
        <p:txBody>
          <a:bodyPr/>
          <a:lstStyle/>
          <a:p>
            <a:r>
              <a:rPr lang="en-US" dirty="0"/>
              <a:t>Sequence Diagram</a:t>
            </a:r>
            <a:endParaRPr dirty="0"/>
          </a:p>
        </p:txBody>
      </p:sp>
      <p:pic>
        <p:nvPicPr>
          <p:cNvPr id="14339" name="Picture 3" descr="C:\Users\DELL\Downloads\Copilot_20251114_113852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3040" y="1235379"/>
            <a:ext cx="3611671" cy="10835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40" name="Picture 4" descr="C:\Users\DELL\Downloads\Copilot_20251114_115402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4648" y="1866377"/>
            <a:ext cx="3499980" cy="52499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234524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9EC2A7F1-5B61-DB4B-F5AF-E69323D859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34EB538-BC04-A4F9-E6C9-4124B8EE6D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000"/>
            <a:ext cx="7772400" cy="1470025"/>
          </a:xfrm>
        </p:spPr>
        <p:txBody>
          <a:bodyPr/>
          <a:lstStyle/>
          <a:p>
            <a:r>
              <a:rPr lang="en-US" dirty="0"/>
              <a:t>API Contracts</a:t>
            </a:r>
            <a:endParaRPr dirty="0"/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8ADF9BFC-0A08-0D27-91C3-09980120C37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Add content here...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2811621"/>
          <a:ext cx="8229600" cy="2103120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r>
                        <a:rPr lang="en-US"/>
                        <a:t>Endpoint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Method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Request/Response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Auth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/api/users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POST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UserDto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JWT (USER)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/api/users/{id}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GET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UserResponseDto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JWT (USER/ADMIN)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/api/payments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POST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PaymentDto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JWT (USER)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/api/payments/{code}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GET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PaymentDto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JWT (USER/ADMIN)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046950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89099"/>
            <a:ext cx="7772400" cy="1470025"/>
          </a:xfrm>
        </p:spPr>
        <p:txBody>
          <a:bodyPr/>
          <a:lstStyle/>
          <a:p>
            <a:r>
              <a:rPr dirty="0"/>
              <a:t>Scalability &amp; Resilience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Add content here...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3663606"/>
              </p:ext>
            </p:extLst>
          </p:nvPr>
        </p:nvGraphicFramePr>
        <p:xfrm>
          <a:off x="457200" y="3650239"/>
          <a:ext cx="8229600" cy="18288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r>
                        <a:rPr lang="en-US"/>
                        <a:t>Service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Metric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Action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EKS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CPU/Memory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HPA scaling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RDS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Replica lag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Add read replicas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SQS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Queue depth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Scale consumers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ALB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Latency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Auto scaling backend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457200" y="2947988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Scalability Diagram:</a:t>
            </a: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ALB → EKS pods (HPA scaling) → RDS Multi-AZ → SQS scaling consumers.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Resilience Table:</a:t>
            </a: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73066" y="151312"/>
            <a:ext cx="7772400" cy="1470025"/>
          </a:xfrm>
        </p:spPr>
        <p:txBody>
          <a:bodyPr/>
          <a:lstStyle/>
          <a:p>
            <a:r>
              <a:rPr dirty="0"/>
              <a:t>Monitoring &amp; </a:t>
            </a:r>
            <a:r>
              <a:rPr lang="en-IN" dirty="0"/>
              <a:t>Observability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Add content here...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5894339"/>
              </p:ext>
            </p:extLst>
          </p:nvPr>
        </p:nvGraphicFramePr>
        <p:xfrm>
          <a:off x="281836" y="3705353"/>
          <a:ext cx="8229600" cy="219456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r>
                        <a:rPr lang="en-US"/>
                        <a:t>Component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Metric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Threshold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EKS Pods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CPU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&gt;80%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RDS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Connections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&gt;500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SQS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Queue depth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&gt;1000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ALB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Latency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&gt;250ms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CloudFront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Cache hit ratio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&lt;80%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457200" y="2765425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Monitoring Diagram:</a:t>
            </a: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CloudWatch metrics + Prometheus scraping → Grafana dashboards → X-Ray traces.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Logging Table:</a:t>
            </a: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98118" y="226468"/>
            <a:ext cx="7772400" cy="1470025"/>
          </a:xfrm>
        </p:spPr>
        <p:txBody>
          <a:bodyPr/>
          <a:lstStyle/>
          <a:p>
            <a:r>
              <a:rPr dirty="0"/>
              <a:t>Testing Strategy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Add content here...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2948781"/>
          <a:ext cx="8229600" cy="18288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r>
                        <a:rPr lang="en-US"/>
                        <a:t>Test Type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Scope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Tools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Unit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Microservice classes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JUnit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Integration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Service-to-service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Postman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Load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TPS simulation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JMeter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Security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IAM, JWT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OWASP ZAP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38995"/>
            <a:ext cx="7772400" cy="1470025"/>
          </a:xfrm>
        </p:spPr>
        <p:txBody>
          <a:bodyPr/>
          <a:lstStyle/>
          <a:p>
            <a:r>
              <a:rPr dirty="0"/>
              <a:t>Cost &amp; Optimization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Add content here...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2948781"/>
          <a:ext cx="8229600" cy="18288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r>
                        <a:rPr lang="en-US"/>
                        <a:t>Service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Driver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Notes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EKS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Compute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Use Savings Plans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RDS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Storage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Right-size, Multi-AZ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S3+CloudFront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Bandwidth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Cache, lifecycle policies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SQS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Requests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DLQ for retries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Risks &amp; Mitigations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2948781"/>
          <a:ext cx="8229600" cy="1828800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r>
                        <a:rPr lang="en-US"/>
                        <a:t>Risk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Likelihood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Impact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Mitigation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AZ failure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Medium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High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Multi-AZ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Token expiry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High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Medium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Refresh flow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Cost overruns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Medium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High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Budgets, alerts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Queue overload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Medium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Medium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DLQ, scaling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 &amp; Links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41326"/>
            <a:ext cx="6025019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r>
              <a:rPr lang="en-US" dirty="0"/>
              <a:t>AWS Well-Architected Framework</a:t>
            </a:r>
          </a:p>
          <a:p>
            <a:r>
              <a:rPr lang="en-US" dirty="0" err="1"/>
              <a:t>Cognito</a:t>
            </a:r>
            <a:r>
              <a:rPr lang="en-US" dirty="0"/>
              <a:t> Developer Guide</a:t>
            </a:r>
          </a:p>
          <a:p>
            <a:r>
              <a:rPr lang="en-US" dirty="0"/>
              <a:t>Spring Security Docs</a:t>
            </a:r>
          </a:p>
          <a:p>
            <a:r>
              <a:rPr lang="en-US" dirty="0"/>
              <a:t>Resilience4j Docs</a:t>
            </a:r>
          </a:p>
          <a:p>
            <a:r>
              <a:rPr lang="en-US" dirty="0"/>
              <a:t>Prometheus + </a:t>
            </a:r>
            <a:r>
              <a:rPr lang="en-US" dirty="0" err="1"/>
              <a:t>Grafana</a:t>
            </a:r>
            <a:r>
              <a:rPr lang="en-US" dirty="0"/>
              <a:t> setup</a:t>
            </a:r>
          </a:p>
          <a:p>
            <a:r>
              <a:rPr lang="en-US" dirty="0"/>
              <a:t>AWS SQS Developer Guide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80812129-8646-A58C-97BD-9BCF832A44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F7B2552-6EC9-E03F-391B-5D033A24CF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Q</a:t>
            </a:r>
            <a:r>
              <a:rPr dirty="0"/>
              <a:t> &amp; </a:t>
            </a:r>
            <a:r>
              <a:rPr lang="en-IN" dirty="0"/>
              <a:t>A</a:t>
            </a:r>
            <a:endParaRPr dirty="0"/>
          </a:p>
        </p:txBody>
      </p:sp>
      <p:sp>
        <p:nvSpPr>
          <p:cNvPr id="5" name="Rectangle 4"/>
          <p:cNvSpPr/>
          <p:nvPr/>
        </p:nvSpPr>
        <p:spPr>
          <a:xfrm>
            <a:off x="1064712" y="1252604"/>
            <a:ext cx="579328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Present prepared responses to team questions (e.g., why EKS </a:t>
            </a:r>
            <a:r>
              <a:rPr lang="en-US" dirty="0" err="1"/>
              <a:t>vs</a:t>
            </a:r>
            <a:r>
              <a:rPr lang="en-US" dirty="0"/>
              <a:t> Lambda, why RDS </a:t>
            </a:r>
            <a:r>
              <a:rPr lang="en-US" dirty="0" err="1"/>
              <a:t>vs</a:t>
            </a:r>
            <a:r>
              <a:rPr lang="en-US" dirty="0"/>
              <a:t> </a:t>
            </a:r>
            <a:r>
              <a:rPr lang="en-US" dirty="0" err="1"/>
              <a:t>DynamoDB</a:t>
            </a:r>
            <a:r>
              <a:rPr lang="en-US" dirty="0"/>
              <a:t>).</a:t>
            </a:r>
          </a:p>
          <a:p>
            <a:r>
              <a:rPr lang="en-US" dirty="0"/>
              <a:t>Open floor for audience questions.</a:t>
            </a:r>
          </a:p>
        </p:txBody>
      </p:sp>
    </p:spTree>
    <p:extLst>
      <p:ext uri="{BB962C8B-B14F-4D97-AF65-F5344CB8AC3E}">
        <p14:creationId xmlns:p14="http://schemas.microsoft.com/office/powerpoint/2010/main" val="23428635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=""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</TotalTime>
  <Words>966</Words>
  <Application>Microsoft Office PowerPoint</Application>
  <PresentationFormat>On-screen Show (4:3)</PresentationFormat>
  <Paragraphs>323</Paragraphs>
  <Slides>16</Slides>
  <Notes>15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Title &amp; Team Info</vt:lpstr>
      <vt:lpstr>Scenario &amp; Requirements</vt:lpstr>
      <vt:lpstr>High-Level Architecture Overview</vt:lpstr>
      <vt:lpstr>Tech Stack &amp; Trade-offs</vt:lpstr>
      <vt:lpstr>Component Deployment</vt:lpstr>
      <vt:lpstr>Security &amp; Compliance</vt:lpstr>
      <vt:lpstr>Class  Diagram</vt:lpstr>
      <vt:lpstr>Sequence Diagram</vt:lpstr>
      <vt:lpstr>API Contracts</vt:lpstr>
      <vt:lpstr>Scalability &amp; Resilience</vt:lpstr>
      <vt:lpstr>Monitoring &amp; Observability</vt:lpstr>
      <vt:lpstr>Testing Strategy</vt:lpstr>
      <vt:lpstr>Cost &amp; Optimization</vt:lpstr>
      <vt:lpstr>Risks &amp; Mitigations</vt:lpstr>
      <vt:lpstr>References &amp; Links</vt:lpstr>
      <vt:lpstr>Q &amp; A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&amp; Team Info</dc:title>
  <dc:subject/>
  <dc:creator/>
  <cp:keywords/>
  <dc:description>generated using python-pptx</dc:description>
  <cp:lastModifiedBy>DELL</cp:lastModifiedBy>
  <cp:revision>12</cp:revision>
  <dcterms:created xsi:type="dcterms:W3CDTF">2013-01-27T09:14:16Z</dcterms:created>
  <dcterms:modified xsi:type="dcterms:W3CDTF">2025-11-14T06:33:19Z</dcterms:modified>
  <cp:category/>
</cp:coreProperties>
</file>