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9" r:id="rId9"/>
    <p:sldId id="268" r:id="rId10"/>
    <p:sldId id="262" r:id="rId11"/>
    <p:sldId id="263" r:id="rId12"/>
    <p:sldId id="264" r:id="rId13"/>
    <p:sldId id="265" r:id="rId14"/>
    <p:sldId id="266" r:id="rId15"/>
    <p:sldId id="267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69" autoAdjust="0"/>
  </p:normalViewPr>
  <p:slideViewPr>
    <p:cSldViewPr snapToGrid="0" snapToObjects="1">
      <p:cViewPr>
        <p:scale>
          <a:sx n="76" d="100"/>
          <a:sy n="76" d="100"/>
        </p:scale>
        <p:origin x="-120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586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Include project name, team members, owner, version, and scope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 scenario description, functional requirements, NFRs, and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Include design summary and rationale.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092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2D50892-0E4F-D845-FF05-1F9A802DB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3CCD196-5FCB-1E39-9227-A90E386A1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61085AC-DB83-C034-62EA-A16838A67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Justify technology choices and alternatives. </a:t>
            </a:r>
          </a:p>
        </p:txBody>
      </p:sp>
    </p:spTree>
    <p:extLst>
      <p:ext uri="{BB962C8B-B14F-4D97-AF65-F5344CB8AC3E}">
        <p14:creationId xmlns:p14="http://schemas.microsoft.com/office/powerpoint/2010/main" val="2125966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 frontend, backend, database, and communication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Sequence diagrams for user journey and internal flows.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0571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03DBE1A-EF77-C0B9-D810-601D9A73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4269B20-8553-2781-A83D-E39D1B020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58EF8CF-3635-8903-0E44-0711D4FC1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diagram for one microservice.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5622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D7962CA-3F81-798E-D8D6-C93BBAB2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3065A5B-2BFC-6BE3-4440-EF90AA611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C7A76D4-8F1C-4893-BA7F-99FFED442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contracts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7246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auto scaling, high availability, caching, and disaster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Include metrics, alarms, logs, and tracing.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unit/integration tests, load tests, security tests, and acceptance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List cost drivers and optimization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Identify top risks, mitigation strategies, and residual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Provide document links, version history, and related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DFC04F-FAF2-EA53-D691-69480EAE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34B017E-EB73-C641-4083-4E77C0936E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4FDD556-383C-C080-1DCD-12AC454D38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Provide document links, version history, and related artifacts.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0DAA565-C052-32F7-1D6D-C82426C43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28518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568" y="0"/>
            <a:ext cx="7772400" cy="1470025"/>
          </a:xfrm>
        </p:spPr>
        <p:txBody>
          <a:bodyPr/>
          <a:lstStyle/>
          <a:p>
            <a:r>
              <a:rPr dirty="0"/>
              <a:t>Title &amp; Team Info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932" y="1500557"/>
            <a:ext cx="74905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n-US" b="1" dirty="0"/>
              <a:t>Project Name:</a:t>
            </a:r>
            <a:r>
              <a:rPr lang="en-US" dirty="0"/>
              <a:t> </a:t>
            </a:r>
            <a:r>
              <a:rPr lang="en-US" dirty="0" err="1"/>
              <a:t>Fintech</a:t>
            </a:r>
            <a:r>
              <a:rPr lang="en-US" dirty="0"/>
              <a:t> Web App – Secure Payments Platform </a:t>
            </a:r>
            <a:r>
              <a:rPr lang="en-US" b="1" dirty="0"/>
              <a:t>Team Members:</a:t>
            </a:r>
            <a:r>
              <a:rPr lang="en-US" dirty="0"/>
              <a:t> </a:t>
            </a:r>
            <a:r>
              <a:rPr lang="en-US" dirty="0" err="1"/>
              <a:t>Gopi</a:t>
            </a:r>
            <a:r>
              <a:rPr lang="en-US" dirty="0"/>
              <a:t> + </a:t>
            </a:r>
            <a:r>
              <a:rPr lang="en-US" dirty="0" smtClean="0"/>
              <a:t>Team</a:t>
            </a:r>
          </a:p>
          <a:p>
            <a:r>
              <a:rPr lang="en-US" dirty="0" smtClean="0"/>
              <a:t> </a:t>
            </a:r>
            <a:r>
              <a:rPr lang="en-US" b="1" dirty="0"/>
              <a:t>Owner &amp; Version:</a:t>
            </a:r>
            <a:r>
              <a:rPr lang="en-US" dirty="0"/>
              <a:t> v1.0 </a:t>
            </a:r>
            <a:r>
              <a:rPr lang="en-US" b="1" dirty="0"/>
              <a:t>Scope Summary:</a:t>
            </a:r>
            <a:r>
              <a:rPr lang="en-US" dirty="0"/>
              <a:t> A secure, resilient, observable </a:t>
            </a:r>
            <a:r>
              <a:rPr lang="en-US" dirty="0" err="1"/>
              <a:t>microservices</a:t>
            </a:r>
            <a:r>
              <a:rPr lang="en-US" dirty="0"/>
              <a:t> architecture on AWS. </a:t>
            </a:r>
            <a:endParaRPr lang="en-US" dirty="0" smtClean="0"/>
          </a:p>
          <a:p>
            <a:r>
              <a:rPr lang="en-US" dirty="0" err="1" smtClean="0"/>
              <a:t>Cognito</a:t>
            </a:r>
            <a:r>
              <a:rPr lang="en-US" dirty="0" smtClean="0"/>
              <a:t> </a:t>
            </a:r>
            <a:r>
              <a:rPr lang="en-US" dirty="0"/>
              <a:t>JWT authentication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en-US" dirty="0"/>
              <a:t>Spring Boot </a:t>
            </a:r>
            <a:r>
              <a:rPr lang="en-US" dirty="0" err="1"/>
              <a:t>microservices</a:t>
            </a:r>
            <a:r>
              <a:rPr lang="en-US" dirty="0"/>
              <a:t> (User, Payment, Notification), RDS </a:t>
            </a:r>
            <a:r>
              <a:rPr lang="en-US" dirty="0" err="1"/>
              <a:t>PostgreSQL</a:t>
            </a:r>
            <a:r>
              <a:rPr lang="en-US" dirty="0"/>
              <a:t>, SQS messaging, </a:t>
            </a:r>
            <a:endParaRPr lang="en-US" dirty="0" smtClean="0"/>
          </a:p>
          <a:p>
            <a:r>
              <a:rPr lang="en-US" dirty="0" err="1" smtClean="0"/>
              <a:t>ALB+Ingress</a:t>
            </a:r>
            <a:r>
              <a:rPr lang="en-US" dirty="0" smtClean="0"/>
              <a:t> </a:t>
            </a:r>
            <a:r>
              <a:rPr lang="en-US" dirty="0"/>
              <a:t>networking, resilience patterns, and </a:t>
            </a:r>
            <a:r>
              <a:rPr lang="en-US" dirty="0" err="1"/>
              <a:t>observability</a:t>
            </a:r>
            <a:r>
              <a:rPr lang="en-US" dirty="0"/>
              <a:t> with </a:t>
            </a:r>
            <a:r>
              <a:rPr lang="en-US" dirty="0" err="1"/>
              <a:t>CloudWatch</a:t>
            </a:r>
            <a:r>
              <a:rPr lang="en-US" dirty="0"/>
              <a:t>, Prometheus, and X-Ray.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966" y="150312"/>
            <a:ext cx="6579296" cy="1020088"/>
          </a:xfrm>
        </p:spPr>
        <p:txBody>
          <a:bodyPr/>
          <a:lstStyle/>
          <a:p>
            <a:r>
              <a:rPr dirty="0"/>
              <a:t>Scenario &amp; Requirements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997223"/>
              </p:ext>
            </p:extLst>
          </p:nvPr>
        </p:nvGraphicFramePr>
        <p:xfrm>
          <a:off x="935217" y="2340650"/>
          <a:ext cx="7933209" cy="4525962"/>
        </p:xfrm>
        <a:graphic>
          <a:graphicData uri="http://schemas.openxmlformats.org/drawingml/2006/table">
            <a:tbl>
              <a:tblPr/>
              <a:tblGrid>
                <a:gridCol w="2644403"/>
                <a:gridCol w="2644403"/>
                <a:gridCol w="2644403"/>
              </a:tblGrid>
              <a:tr h="312135">
                <a:tc>
                  <a:txBody>
                    <a:bodyPr/>
                    <a:lstStyle/>
                    <a:p>
                      <a:r>
                        <a:rPr lang="en-US" sz="1500" dirty="0"/>
                        <a:t>Requirement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Category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Notes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6237">
                <a:tc>
                  <a:txBody>
                    <a:bodyPr/>
                    <a:lstStyle/>
                    <a:p>
                      <a:r>
                        <a:rPr lang="en-US" sz="1500"/>
                        <a:t>User registration/login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Functional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Cognito JWT auth, RBAC enforced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6237">
                <a:tc>
                  <a:txBody>
                    <a:bodyPr/>
                    <a:lstStyle/>
                    <a:p>
                      <a:r>
                        <a:rPr lang="en-US" sz="1500" dirty="0"/>
                        <a:t>Payment initiation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Functional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Payment </a:t>
                      </a:r>
                      <a:r>
                        <a:rPr lang="en-US" sz="1500" dirty="0" err="1"/>
                        <a:t>microservice</a:t>
                      </a:r>
                      <a:r>
                        <a:rPr lang="en-US" sz="1500" dirty="0"/>
                        <a:t>, triggers SQS event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6237">
                <a:tc>
                  <a:txBody>
                    <a:bodyPr/>
                    <a:lstStyle/>
                    <a:p>
                      <a:r>
                        <a:rPr lang="en-US" sz="1500"/>
                        <a:t>Notifications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Functional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Notification </a:t>
                      </a:r>
                      <a:r>
                        <a:rPr lang="en-US" sz="1500" dirty="0" err="1"/>
                        <a:t>microservice</a:t>
                      </a:r>
                      <a:r>
                        <a:rPr lang="en-US" sz="1500" dirty="0"/>
                        <a:t> consumes SQS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6237">
                <a:tc>
                  <a:txBody>
                    <a:bodyPr/>
                    <a:lstStyle/>
                    <a:p>
                      <a:r>
                        <a:rPr lang="en-US" sz="1500" dirty="0"/>
                        <a:t>Reporting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Functional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Daily aggregation of transactions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6237">
                <a:tc>
                  <a:txBody>
                    <a:bodyPr/>
                    <a:lstStyle/>
                    <a:p>
                      <a:r>
                        <a:rPr lang="en-US" sz="1500"/>
                        <a:t>Availability ≥ 99.9%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NFR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500"/>
                        <a:t>Multi-AZ RDS, Auto Scaling EKS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6237">
                <a:tc>
                  <a:txBody>
                    <a:bodyPr/>
                    <a:lstStyle/>
                    <a:p>
                      <a:r>
                        <a:rPr lang="en-US" sz="1500"/>
                        <a:t>Latency ≤ 250ms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NFR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ALB routing, CloudFront caching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2135">
                <a:tc>
                  <a:txBody>
                    <a:bodyPr/>
                    <a:lstStyle/>
                    <a:p>
                      <a:r>
                        <a:rPr lang="en-US" sz="1500"/>
                        <a:t>RPO ≤ 15 min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NFR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Automated RDS backups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2135">
                <a:tc>
                  <a:txBody>
                    <a:bodyPr/>
                    <a:lstStyle/>
                    <a:p>
                      <a:r>
                        <a:rPr lang="en-US" sz="1500"/>
                        <a:t>RTO ≤ 1 hr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NFR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Multi-AZ failover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2135">
                <a:tc>
                  <a:txBody>
                    <a:bodyPr/>
                    <a:lstStyle/>
                    <a:p>
                      <a:r>
                        <a:rPr lang="en-US" sz="1500"/>
                        <a:t>Encryption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Security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TLS in transit, KMS at rest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50520" y="1022879"/>
            <a:ext cx="88934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Scenario: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Design a secure, highly available AWS architecture for a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fintech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web app: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React SPA frontend; Spring Boot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microservices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(Payment, User, Notification, optional Reporting);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enforce RBAC and end-to-end TLS.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Requirements Table: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6468"/>
            <a:ext cx="7772400" cy="1470025"/>
          </a:xfrm>
        </p:spPr>
        <p:txBody>
          <a:bodyPr/>
          <a:lstStyle/>
          <a:p>
            <a:r>
              <a:rPr dirty="0"/>
              <a:t>High-Level Architecture </a:t>
            </a:r>
            <a:r>
              <a:rPr lang="en-IN" dirty="0"/>
              <a:t>Overview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015615"/>
              </p:ext>
            </p:extLst>
          </p:nvPr>
        </p:nvGraphicFramePr>
        <p:xfrm>
          <a:off x="457200" y="2765901"/>
          <a:ext cx="6818122" cy="2194560"/>
        </p:xfrm>
        <a:graphic>
          <a:graphicData uri="http://schemas.openxmlformats.org/drawingml/2006/table">
            <a:tbl>
              <a:tblPr/>
              <a:tblGrid>
                <a:gridCol w="1331722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Responsibility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HA/SLO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ALB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Routing, TLS termination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99.99%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Microservice hosting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Auto 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Transaction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Multi-AZ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SQS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Event queue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Durable, 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CloudFront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CDN caching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Global edge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457199" y="1617066"/>
            <a:ext cx="7173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Architecture Diagram: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(Insert your VPC diagram here: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Public/Private subnets, ALB, EKS, RDS,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Cognito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SQS,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CloudFront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Design Summary Table: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CBB448-BA81-AEA2-8186-85B10542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48334F-E861-1C55-A3A6-F629E6CCA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592" y="126260"/>
            <a:ext cx="7772400" cy="1470025"/>
          </a:xfrm>
        </p:spPr>
        <p:txBody>
          <a:bodyPr/>
          <a:lstStyle/>
          <a:p>
            <a:r>
              <a:rPr lang="en-US" b="1" dirty="0"/>
              <a:t>Tech Stack &amp; Trade-offs</a:t>
            </a:r>
            <a:endParaRPr lang="en-IN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537301"/>
          <a:ext cx="8229600" cy="26517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Choice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Alternative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Rationale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ECS, Lambda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JVM workloads, warm containers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DynamoDB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ACID transactions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ALB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API Gateway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Path-based routing, lower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Cognito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Custom auth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Standards-based, offloads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200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5592" y="0"/>
            <a:ext cx="7772400" cy="1470025"/>
          </a:xfrm>
        </p:spPr>
        <p:txBody>
          <a:bodyPr/>
          <a:lstStyle/>
          <a:p>
            <a:r>
              <a:rPr dirty="0"/>
              <a:t>Component Deployment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628741"/>
          <a:ext cx="8229600" cy="24688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React SPA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S3 + CloudFront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CDN 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Cached globally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User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JWT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Payment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Publishes SQS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Notification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Consumes SQS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Private subnet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Multi-AZ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Automated backups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3482" y="63630"/>
            <a:ext cx="7772400" cy="1470025"/>
          </a:xfrm>
        </p:spPr>
        <p:txBody>
          <a:bodyPr/>
          <a:lstStyle/>
          <a:p>
            <a:r>
              <a:rPr lang="en-IN" dirty="0"/>
              <a:t>Security &amp; Compliance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68093"/>
              </p:ext>
            </p:extLst>
          </p:nvPr>
        </p:nvGraphicFramePr>
        <p:xfrm>
          <a:off x="569935" y="3803110"/>
          <a:ext cx="8229600" cy="24688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Policies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Payment Pod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sqs:SendMessage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Publishes payment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Notification Pod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sqs:ReceiveMessage, sqs:DeleteMessage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Consumes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User Service Pod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rds:Connect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Queries 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Reporting Pod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rds:ReadReplica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Aggregates 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App 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cognito-idp:*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JWT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57200" y="26289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Security Approach: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Cognito JWT for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RBAC enforced via Spring Security (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@PreAuthorize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IAM roles for least privilege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TLS everywhere (ALB termination + pod-to-pod mTLS optional)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Audit logs retained 90 days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IAM Roles Table: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8638" y="126261"/>
            <a:ext cx="7609561" cy="763088"/>
          </a:xfrm>
        </p:spPr>
        <p:txBody>
          <a:bodyPr/>
          <a:lstStyle/>
          <a:p>
            <a:r>
              <a:rPr lang="en-US" dirty="0" smtClean="0"/>
              <a:t>Class  Diagram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901973"/>
              </p:ext>
            </p:extLst>
          </p:nvPr>
        </p:nvGraphicFramePr>
        <p:xfrm>
          <a:off x="676405" y="889349"/>
          <a:ext cx="7412278" cy="5785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6139"/>
                <a:gridCol w="3706139"/>
              </a:tblGrid>
              <a:tr h="5785771"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Sequence Diagram (User ↔ Payment Flow)</a:t>
                      </a:r>
                    </a:p>
                    <a:p>
                      <a:r>
                        <a:rPr lang="en-US" sz="1200" b="1" dirty="0" smtClean="0"/>
                        <a:t>Flow:</a:t>
                      </a:r>
                      <a:endParaRPr lang="en-US" sz="1200" dirty="0" smtClean="0"/>
                    </a:p>
                    <a:p>
                      <a:r>
                        <a:rPr lang="en-US" sz="1200" b="1" dirty="0" smtClean="0"/>
                        <a:t>React SPA (</a:t>
                      </a:r>
                      <a:r>
                        <a:rPr lang="en-US" sz="1200" b="1" dirty="0" err="1" smtClean="0"/>
                        <a:t>CloudFront</a:t>
                      </a:r>
                      <a:r>
                        <a:rPr lang="en-US" sz="1200" b="1" dirty="0" smtClean="0"/>
                        <a:t>/S3)</a:t>
                      </a:r>
                      <a:r>
                        <a:rPr lang="en-US" sz="1200" dirty="0" smtClean="0"/>
                        <a:t> → User clicks </a:t>
                      </a:r>
                      <a:r>
                        <a:rPr lang="en-US" sz="1200" i="1" dirty="0" smtClean="0"/>
                        <a:t>Make Payment</a:t>
                      </a:r>
                      <a:endParaRPr lang="en-US" sz="1200" dirty="0" smtClean="0"/>
                    </a:p>
                    <a:p>
                      <a:r>
                        <a:rPr lang="en-US" sz="1200" b="1" dirty="0" err="1" smtClean="0"/>
                        <a:t>Cognito</a:t>
                      </a:r>
                      <a:r>
                        <a:rPr lang="en-US" sz="1200" dirty="0" smtClean="0"/>
                        <a:t> → Issues JWT (Access Token)</a:t>
                      </a:r>
                    </a:p>
                    <a:p>
                      <a:r>
                        <a:rPr lang="en-US" sz="1200" b="1" dirty="0" smtClean="0"/>
                        <a:t>ALB + Ingress</a:t>
                      </a:r>
                      <a:r>
                        <a:rPr lang="en-US" sz="1200" dirty="0" smtClean="0"/>
                        <a:t> → Routes request to User Service</a:t>
                      </a:r>
                    </a:p>
                    <a:p>
                      <a:r>
                        <a:rPr lang="en-US" sz="1200" b="1" dirty="0" smtClean="0"/>
                        <a:t>User Service</a:t>
                      </a:r>
                      <a:r>
                        <a:rPr lang="en-US" sz="1200" dirty="0" smtClean="0"/>
                        <a:t> → Validates JWT, forwards request with token</a:t>
                      </a:r>
                    </a:p>
                    <a:p>
                      <a:r>
                        <a:rPr lang="en-US" sz="1200" b="1" dirty="0" smtClean="0"/>
                        <a:t>Payment Service</a:t>
                      </a:r>
                      <a:r>
                        <a:rPr lang="en-US" sz="1200" dirty="0" smtClean="0"/>
                        <a:t> → Processes payment, persists to RDS</a:t>
                      </a:r>
                    </a:p>
                    <a:p>
                      <a:r>
                        <a:rPr lang="en-US" sz="1200" b="1" dirty="0" smtClean="0"/>
                        <a:t>Payment Service</a:t>
                      </a:r>
                      <a:r>
                        <a:rPr lang="en-US" sz="1200" dirty="0" smtClean="0"/>
                        <a:t> → Publishes event to SQS</a:t>
                      </a:r>
                    </a:p>
                    <a:p>
                      <a:r>
                        <a:rPr lang="en-US" sz="1200" b="1" dirty="0" smtClean="0"/>
                        <a:t>Notification Service</a:t>
                      </a:r>
                      <a:r>
                        <a:rPr lang="en-US" sz="1200" dirty="0" smtClean="0"/>
                        <a:t> → Consumes SQS event, sends notification</a:t>
                      </a:r>
                    </a:p>
                    <a:p>
                      <a:r>
                        <a:rPr lang="en-US" sz="1200" b="1" dirty="0" smtClean="0"/>
                        <a:t>Response</a:t>
                      </a:r>
                      <a:r>
                        <a:rPr lang="en-US" sz="1200" dirty="0" smtClean="0"/>
                        <a:t> → JSON confirmation returned to SPA</a:t>
                      </a:r>
                    </a:p>
                    <a:p>
                      <a:r>
                        <a:rPr lang="en-US" sz="1200" b="1" dirty="0" smtClean="0"/>
                        <a:t>🏗️ Class Diagram (User &amp; Payment </a:t>
                      </a:r>
                      <a:r>
                        <a:rPr lang="en-US" sz="1200" b="1" dirty="0" err="1" smtClean="0"/>
                        <a:t>Microservices</a:t>
                      </a:r>
                      <a:r>
                        <a:rPr lang="en-US" sz="1200" b="1" dirty="0" smtClean="0"/>
                        <a:t>)</a:t>
                      </a:r>
                    </a:p>
                    <a:p>
                      <a:r>
                        <a:rPr lang="en-US" sz="1200" b="1" dirty="0" smtClean="0"/>
                        <a:t>User </a:t>
                      </a:r>
                      <a:r>
                        <a:rPr lang="en-US" sz="1200" b="1" dirty="0" err="1" smtClean="0"/>
                        <a:t>Microservice</a:t>
                      </a:r>
                      <a:endParaRPr lang="en-US" sz="1200" dirty="0" smtClean="0"/>
                    </a:p>
                    <a:p>
                      <a:r>
                        <a:rPr lang="en-US" sz="1200" b="1" dirty="0" err="1" smtClean="0"/>
                        <a:t>UserController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err="1" smtClean="0"/>
                        <a:t>registerUser</a:t>
                      </a:r>
                      <a:r>
                        <a:rPr lang="en-US" sz="1200" dirty="0" smtClean="0"/>
                        <a:t>(</a:t>
                      </a:r>
                      <a:r>
                        <a:rPr lang="en-US" sz="1200" dirty="0" err="1" smtClean="0"/>
                        <a:t>UserDto</a:t>
                      </a:r>
                      <a:r>
                        <a:rPr lang="en-US" sz="1200" dirty="0" smtClean="0"/>
                        <a:t>)</a:t>
                      </a:r>
                    </a:p>
                    <a:p>
                      <a:pPr lvl="1"/>
                      <a:r>
                        <a:rPr lang="en-US" sz="1200" dirty="0" err="1" smtClean="0"/>
                        <a:t>getUser</a:t>
                      </a:r>
                      <a:r>
                        <a:rPr lang="en-US" sz="1200" dirty="0" smtClean="0"/>
                        <a:t>(Long id)</a:t>
                      </a:r>
                    </a:p>
                    <a:p>
                      <a:r>
                        <a:rPr lang="en-US" sz="1200" b="1" dirty="0" err="1" smtClean="0"/>
                        <a:t>UserService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err="1" smtClean="0"/>
                        <a:t>saveUser</a:t>
                      </a:r>
                      <a:r>
                        <a:rPr lang="en-US" sz="1200" dirty="0" smtClean="0"/>
                        <a:t>(</a:t>
                      </a:r>
                      <a:r>
                        <a:rPr lang="en-US" sz="1200" dirty="0" err="1" smtClean="0"/>
                        <a:t>UserDto</a:t>
                      </a:r>
                      <a:r>
                        <a:rPr lang="en-US" sz="1200" dirty="0" smtClean="0"/>
                        <a:t>)</a:t>
                      </a:r>
                    </a:p>
                    <a:p>
                      <a:pPr lvl="1"/>
                      <a:r>
                        <a:rPr lang="en-US" sz="1200" dirty="0" err="1" smtClean="0"/>
                        <a:t>getUserById</a:t>
                      </a:r>
                      <a:r>
                        <a:rPr lang="en-US" sz="1200" dirty="0" smtClean="0"/>
                        <a:t>(Long id)</a:t>
                      </a:r>
                    </a:p>
                    <a:p>
                      <a:r>
                        <a:rPr lang="en-US" sz="1200" b="1" dirty="0" err="1" smtClean="0"/>
                        <a:t>UserRepository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smtClean="0"/>
                        <a:t>save(User)</a:t>
                      </a:r>
                    </a:p>
                    <a:p>
                      <a:pPr lvl="1"/>
                      <a:r>
                        <a:rPr lang="en-US" sz="1200" dirty="0" err="1" smtClean="0"/>
                        <a:t>findById</a:t>
                      </a:r>
                      <a:r>
                        <a:rPr lang="en-US" sz="1200" dirty="0" smtClean="0"/>
                        <a:t>(Long id)</a:t>
                      </a:r>
                    </a:p>
                    <a:p>
                      <a:r>
                        <a:rPr lang="en-US" sz="1200" b="1" dirty="0" smtClean="0"/>
                        <a:t>User Entity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smtClean="0"/>
                        <a:t>id: Long</a:t>
                      </a:r>
                    </a:p>
                    <a:p>
                      <a:pPr lvl="1"/>
                      <a:r>
                        <a:rPr lang="en-US" sz="1200" dirty="0" smtClean="0"/>
                        <a:t>name: String</a:t>
                      </a:r>
                    </a:p>
                    <a:p>
                      <a:pPr lvl="1"/>
                      <a:r>
                        <a:rPr lang="en-US" sz="1200" dirty="0" smtClean="0"/>
                        <a:t>email: String</a:t>
                      </a:r>
                    </a:p>
                    <a:p>
                      <a:pPr lvl="1"/>
                      <a:r>
                        <a:rPr lang="en-US" sz="1200" dirty="0" err="1" smtClean="0"/>
                        <a:t>paymentCode</a:t>
                      </a:r>
                      <a:r>
                        <a:rPr lang="en-US" sz="1200" dirty="0" smtClean="0"/>
                        <a:t>: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Payment </a:t>
                      </a:r>
                      <a:r>
                        <a:rPr lang="en-US" sz="1200" b="1" dirty="0" err="1" smtClean="0"/>
                        <a:t>Microservice</a:t>
                      </a:r>
                      <a:endParaRPr lang="en-US" sz="1200" dirty="0" smtClean="0"/>
                    </a:p>
                    <a:p>
                      <a:r>
                        <a:rPr lang="en-US" sz="1200" b="1" dirty="0" err="1" smtClean="0"/>
                        <a:t>PaymentController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err="1" smtClean="0"/>
                        <a:t>initiatePayment</a:t>
                      </a:r>
                      <a:r>
                        <a:rPr lang="en-US" sz="1200" dirty="0" smtClean="0"/>
                        <a:t>(</a:t>
                      </a:r>
                      <a:r>
                        <a:rPr lang="en-US" sz="1200" dirty="0" err="1" smtClean="0"/>
                        <a:t>PaymentDto</a:t>
                      </a:r>
                      <a:r>
                        <a:rPr lang="en-US" sz="1200" dirty="0" smtClean="0"/>
                        <a:t>)</a:t>
                      </a:r>
                    </a:p>
                    <a:p>
                      <a:pPr lvl="1"/>
                      <a:r>
                        <a:rPr lang="en-US" sz="1200" dirty="0" err="1" smtClean="0"/>
                        <a:t>getPayment</a:t>
                      </a:r>
                      <a:r>
                        <a:rPr lang="en-US" sz="1200" dirty="0" smtClean="0"/>
                        <a:t>(String code)</a:t>
                      </a:r>
                    </a:p>
                    <a:p>
                      <a:r>
                        <a:rPr lang="en-US" sz="1200" b="1" dirty="0" err="1" smtClean="0"/>
                        <a:t>PaymentService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err="1" smtClean="0"/>
                        <a:t>savePayment</a:t>
                      </a:r>
                      <a:r>
                        <a:rPr lang="en-US" sz="1200" dirty="0" smtClean="0"/>
                        <a:t>(</a:t>
                      </a:r>
                      <a:r>
                        <a:rPr lang="en-US" sz="1200" dirty="0" err="1" smtClean="0"/>
                        <a:t>PaymentDto</a:t>
                      </a:r>
                      <a:r>
                        <a:rPr lang="en-US" sz="1200" dirty="0" smtClean="0"/>
                        <a:t>)</a:t>
                      </a:r>
                    </a:p>
                    <a:p>
                      <a:pPr lvl="1"/>
                      <a:r>
                        <a:rPr lang="en-US" sz="1200" dirty="0" err="1" smtClean="0"/>
                        <a:t>getPaymentByCode</a:t>
                      </a:r>
                      <a:r>
                        <a:rPr lang="en-US" sz="1200" dirty="0" smtClean="0"/>
                        <a:t>(String code)</a:t>
                      </a:r>
                    </a:p>
                    <a:p>
                      <a:r>
                        <a:rPr lang="en-US" sz="1200" b="1" dirty="0" err="1" smtClean="0"/>
                        <a:t>PaymentRepository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smtClean="0"/>
                        <a:t>save(Payment)</a:t>
                      </a:r>
                    </a:p>
                    <a:p>
                      <a:pPr lvl="1"/>
                      <a:r>
                        <a:rPr lang="en-US" sz="1200" dirty="0" err="1" smtClean="0"/>
                        <a:t>findByPaymentCode</a:t>
                      </a:r>
                      <a:r>
                        <a:rPr lang="en-US" sz="1200" dirty="0" smtClean="0"/>
                        <a:t>(String code)</a:t>
                      </a:r>
                    </a:p>
                    <a:p>
                      <a:r>
                        <a:rPr lang="en-US" sz="1200" b="1" dirty="0" smtClean="0"/>
                        <a:t>Payment Entity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err="1" smtClean="0"/>
                        <a:t>paymentCode</a:t>
                      </a:r>
                      <a:r>
                        <a:rPr lang="en-US" sz="1200" dirty="0" smtClean="0"/>
                        <a:t>: String {PK}</a:t>
                      </a:r>
                    </a:p>
                    <a:p>
                      <a:pPr lvl="1"/>
                      <a:r>
                        <a:rPr lang="en-US" sz="1200" dirty="0" smtClean="0"/>
                        <a:t>amount: Decimal</a:t>
                      </a:r>
                    </a:p>
                    <a:p>
                      <a:pPr lvl="1"/>
                      <a:r>
                        <a:rPr lang="en-US" sz="1200" dirty="0" smtClean="0"/>
                        <a:t>sender: String</a:t>
                      </a:r>
                    </a:p>
                    <a:p>
                      <a:pPr lvl="1"/>
                      <a:r>
                        <a:rPr lang="en-US" sz="1200" dirty="0" smtClean="0"/>
                        <a:t>receiver: String</a:t>
                      </a:r>
                    </a:p>
                    <a:p>
                      <a:pPr lvl="1"/>
                      <a:r>
                        <a:rPr lang="en-US" sz="1200" dirty="0" smtClean="0"/>
                        <a:t>timestamp: </a:t>
                      </a:r>
                      <a:r>
                        <a:rPr lang="en-US" sz="1200" dirty="0" err="1" smtClean="0"/>
                        <a:t>DateTime</a:t>
                      </a:r>
                      <a:endParaRPr lang="en-US" sz="1200" dirty="0" smtClean="0"/>
                    </a:p>
                    <a:p>
                      <a:endParaRPr lang="en-US" sz="1200" dirty="0" smtClean="0"/>
                    </a:p>
                    <a:p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F3FE679-A358-1727-9730-6D7A2849A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B8529F-5CC5-3878-195A-C699BA5CF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82" y="276573"/>
            <a:ext cx="7772400" cy="1470025"/>
          </a:xfrm>
        </p:spPr>
        <p:txBody>
          <a:bodyPr/>
          <a:lstStyle/>
          <a:p>
            <a:r>
              <a:rPr lang="en-US" dirty="0"/>
              <a:t>Sequence Diagram</a:t>
            </a:r>
            <a:endParaRPr dirty="0"/>
          </a:p>
        </p:txBody>
      </p:sp>
      <p:pic>
        <p:nvPicPr>
          <p:cNvPr id="14339" name="Picture 3" descr="C:\Users\DELL\Downloads\Copilot_20251114_11385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040" y="1235379"/>
            <a:ext cx="3611671" cy="1083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C:\Users\DELL\Downloads\Copilot_20251114_11540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648" y="1866377"/>
            <a:ext cx="3499980" cy="524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452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EC2A7F1-5B61-DB4B-F5AF-E69323D85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4EB538-BC04-A4F9-E6C9-4124B8EE6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00"/>
            <a:ext cx="7772400" cy="1470025"/>
          </a:xfrm>
        </p:spPr>
        <p:txBody>
          <a:bodyPr/>
          <a:lstStyle/>
          <a:p>
            <a:r>
              <a:rPr lang="en-US" dirty="0"/>
              <a:t>API Contracts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ADF9BFC-0A08-0D27-91C3-09980120C3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811621"/>
          <a:ext cx="8229600" cy="21031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Endpoint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Request/Response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/api/users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UserDto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JWT (USER)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/api/users/{id}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UserResponseDto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JWT (USER/ADMIN)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/api/payments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PaymentDto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JWT (USER)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/api/payments/{code}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PaymentDto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JWT (USER/ADMIN)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695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89099"/>
            <a:ext cx="7772400" cy="1470025"/>
          </a:xfrm>
        </p:spPr>
        <p:txBody>
          <a:bodyPr/>
          <a:lstStyle/>
          <a:p>
            <a:r>
              <a:rPr dirty="0"/>
              <a:t>Scalability &amp; Resilience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663606"/>
              </p:ext>
            </p:extLst>
          </p:nvPr>
        </p:nvGraphicFramePr>
        <p:xfrm>
          <a:off x="457200" y="3650239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CPU/Memory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HPA 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Replica lag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Add read replicas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SQS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Queue depth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Scale consumers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ALB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scaling 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57200" y="29479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Scalability Diagram: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ALB → EKS pods (HPA scaling) → RDS Multi-AZ → SQS scaling consumers.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Resilience Table: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3066" y="151312"/>
            <a:ext cx="7772400" cy="1470025"/>
          </a:xfrm>
        </p:spPr>
        <p:txBody>
          <a:bodyPr/>
          <a:lstStyle/>
          <a:p>
            <a:r>
              <a:rPr dirty="0"/>
              <a:t>Monitoring &amp; </a:t>
            </a:r>
            <a:r>
              <a:rPr lang="en-IN" dirty="0"/>
              <a:t>Observability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894339"/>
              </p:ext>
            </p:extLst>
          </p:nvPr>
        </p:nvGraphicFramePr>
        <p:xfrm>
          <a:off x="281836" y="3705353"/>
          <a:ext cx="8229600" cy="21945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Threshold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EKS Pods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&gt;80%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Connections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&gt;500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SQS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Queue depth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&gt;1000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ALB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&gt;250ms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CloudFront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Cache hit ratio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&lt;80%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57200" y="27654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Monitoring Diagram: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CloudWatch metrics + Prometheus scraping → Grafana dashboards → X-Ray traces.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Logging Table: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118" y="226468"/>
            <a:ext cx="7772400" cy="1470025"/>
          </a:xfrm>
        </p:spPr>
        <p:txBody>
          <a:bodyPr/>
          <a:lstStyle/>
          <a:p>
            <a:r>
              <a:rPr dirty="0"/>
              <a:t>Testing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48781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Test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Microservice 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Service-to-service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Postman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TPS simulation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IAM, JWT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OWASP ZAP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8995"/>
            <a:ext cx="7772400" cy="1470025"/>
          </a:xfrm>
        </p:spPr>
        <p:txBody>
          <a:bodyPr/>
          <a:lstStyle/>
          <a:p>
            <a:r>
              <a:rPr dirty="0"/>
              <a:t>Cost &amp;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48781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Driver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Compute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 Savings Plans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Right-size, Multi-AZ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S3+CloudFront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Bandwidth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Cache, lifecycle policies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SQS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Requests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DLQ for retries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48781"/>
          <a:ext cx="8229600" cy="1828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Likelihood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Mitigation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AZ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Multi-AZ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Token expiry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Refresh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Cost overruns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Budgets, alerts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Queue overload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DLQ, 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41326"/>
            <a:ext cx="602501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n-US" dirty="0"/>
              <a:t>AWS Well-Architected Framework</a:t>
            </a:r>
          </a:p>
          <a:p>
            <a:r>
              <a:rPr lang="en-US" dirty="0" err="1"/>
              <a:t>Cognito</a:t>
            </a:r>
            <a:r>
              <a:rPr lang="en-US" dirty="0"/>
              <a:t> Developer Guide</a:t>
            </a:r>
          </a:p>
          <a:p>
            <a:r>
              <a:rPr lang="en-US" dirty="0"/>
              <a:t>Spring Security Docs</a:t>
            </a:r>
          </a:p>
          <a:p>
            <a:r>
              <a:rPr lang="en-US" dirty="0"/>
              <a:t>Resilience4j Docs</a:t>
            </a:r>
          </a:p>
          <a:p>
            <a:r>
              <a:rPr lang="en-US" dirty="0"/>
              <a:t>Prometheus + </a:t>
            </a:r>
            <a:r>
              <a:rPr lang="en-US" dirty="0" err="1"/>
              <a:t>Grafana</a:t>
            </a:r>
            <a:r>
              <a:rPr lang="en-US" dirty="0"/>
              <a:t> setup</a:t>
            </a:r>
          </a:p>
          <a:p>
            <a:r>
              <a:rPr lang="en-US" dirty="0"/>
              <a:t>AWS SQS Developer Guide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0812129-8646-A58C-97BD-9BCF832A4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7B2552-6EC9-E03F-391B-5D033A24C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</a:t>
            </a:r>
            <a:r>
              <a:rPr dirty="0"/>
              <a:t> &amp; </a:t>
            </a:r>
            <a:r>
              <a:rPr lang="en-IN" dirty="0"/>
              <a:t>A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1064712" y="1252604"/>
            <a:ext cx="57932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Present prepared responses to team questions (e.g., why EKS </a:t>
            </a:r>
            <a:r>
              <a:rPr lang="en-US" dirty="0" err="1"/>
              <a:t>vs</a:t>
            </a:r>
            <a:r>
              <a:rPr lang="en-US" dirty="0"/>
              <a:t> Lambda, why RDS </a:t>
            </a:r>
            <a:r>
              <a:rPr lang="en-US" dirty="0" err="1"/>
              <a:t>vs</a:t>
            </a:r>
            <a:r>
              <a:rPr lang="en-US" dirty="0"/>
              <a:t> </a:t>
            </a:r>
            <a:r>
              <a:rPr lang="en-US" dirty="0" err="1"/>
              <a:t>DynamoDB</a:t>
            </a:r>
            <a:r>
              <a:rPr lang="en-US" dirty="0"/>
              <a:t>).</a:t>
            </a:r>
          </a:p>
          <a:p>
            <a:r>
              <a:rPr lang="en-US" dirty="0"/>
              <a:t>Open floor for audience questions.</a:t>
            </a:r>
          </a:p>
        </p:txBody>
      </p:sp>
    </p:spTree>
    <p:extLst>
      <p:ext uri="{BB962C8B-B14F-4D97-AF65-F5344CB8AC3E}">
        <p14:creationId xmlns:p14="http://schemas.microsoft.com/office/powerpoint/2010/main" val="2342863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1035</Words>
  <Application>Microsoft Office PowerPoint</Application>
  <PresentationFormat>On-screen Show (4:3)</PresentationFormat>
  <Paragraphs>325</Paragraphs>
  <Slides>16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Title &amp; Team Info</vt:lpstr>
      <vt:lpstr>Scenario &amp; Requirements</vt:lpstr>
      <vt:lpstr>High-Level Architecture Overview</vt:lpstr>
      <vt:lpstr>Tech Stack &amp; Trade-offs</vt:lpstr>
      <vt:lpstr>Component Deployment</vt:lpstr>
      <vt:lpstr>Security &amp; Compliance</vt:lpstr>
      <vt:lpstr>Class  Diagram</vt:lpstr>
      <vt:lpstr>Sequence Diagram</vt:lpstr>
      <vt:lpstr>API Contracts</vt:lpstr>
      <vt:lpstr>Scalability &amp; Resilience</vt:lpstr>
      <vt:lpstr>Monitoring &amp; Observability</vt:lpstr>
      <vt:lpstr>Testing Strategy</vt:lpstr>
      <vt:lpstr>Cost &amp; Optimization</vt:lpstr>
      <vt:lpstr>Risks &amp; Mitigations</vt:lpstr>
      <vt:lpstr>References &amp; Links</vt:lpstr>
      <vt:lpstr>Q &amp; A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&amp; Team Info</dc:title>
  <dc:subject/>
  <dc:creator/>
  <cp:keywords/>
  <dc:description>generated using python-pptx</dc:description>
  <cp:lastModifiedBy>DELL</cp:lastModifiedBy>
  <cp:revision>11</cp:revision>
  <dcterms:created xsi:type="dcterms:W3CDTF">2013-01-27T09:14:16Z</dcterms:created>
  <dcterms:modified xsi:type="dcterms:W3CDTF">2025-11-14T06:30:31Z</dcterms:modified>
  <cp:category/>
</cp:coreProperties>
</file>